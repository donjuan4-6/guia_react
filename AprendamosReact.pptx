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4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45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Propósito: abrir con una idea sencilla: React no reemplaza todo lo que saben; organiza HTML, CSS y JS para construir interfaces más mantenibles. Enfatizar que hoy no se busca memorizar teoría sino ejecutar una ruta de trabajo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Bloom: la sesión arranca con comprensión y aplicación, pero al final analiza errores y crea un producto propio.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profundizar aún en virtual DOM o arquitectura. Para este nivel, quedarse en: componentes + datos + reutilización.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ejemplos que ellos ya han creado: páginas de belleza, tiendas, portafolios. Preguntar: si el cliente pide cambiar el color de todas las tarjetas, ¿cuántos lugares editan?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aquí es reducir ansiedad. Muchos errores nacen porque hacen cd en la carpeta equivocada o ejecutan npm run dev antes de npm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dictar React hasta que el entorno esté listo. Esta diapositiva se puede proyectar mientras los aprendices revisan en pareja.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npm run dev deja un proceso vivo. Para detenerlo: Ctrl+C y luego S/Y si pregunta.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abran el árbol de archivos y señalen cada archivo. Esto reduce el miedo al proyecto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detener y volver a correr. Hacerlo en vivo para que vean que localhost se cae cuando se apaga 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Marcar diferencia entre etiquetas HTML y expresiones JS. No entrar a Babel o compilación profunda.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una mini demostración provocando un error: quitar cierre de etiqueta y mostrar cómo Vite señala archivo y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Crear carpeta src/components y archivo Producto.jsx. Enfatizar nombres exactos para evitar errores de importación.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componente aún no recibe props. Que lo hagan funcionar primero. Después se generaliza.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padre e hijo visualmente: App es padre; Producto es hijo. No hablar aún de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props primero como objeto para que sea claro. Luego, si el grupo va bien, mostrar destructuring.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10 minutos para que agreguen una prop. Revisar en parejas.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bases de datos: aunque hoy es frontend, ya están modelando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map no “imprime”; transforma una lista de datos en una lista de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profundizar en reconciliación. La idea es que la key es identidad 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importar CSS: import "./App.css". Si se crea Producto.css, importarlo dentro del componente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que creen carpeta assets/productos y copien 5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taller anterior de Git. Cada bloque de la clase debe cerrar con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obligar publicación si la conectividad falla. El mínimo verificable es npm run build +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puede funcionar como taller en sí mismo. Mantenerla proyectada mientras trabajan.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Convertir los errores en rutina de diagnóstico. Pedir que copien el error exacto antes de consultar.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para Caro/instructora. Puede omitirse en proyección si se prefiere.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8E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 3409609 · ADSO · React / Vite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92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 clase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desde cero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542032"/>
            <a:ext cx="58521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 una página HTML estática a una interfaz organizada por componentes.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822192"/>
            <a:ext cx="6400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EE"/>
                </a:solidFill>
              </a:rPr>
              <a:t>Objetivo práctico de la jornada: crear un catálogo de productos en React, ejecutarlo con Vite, organizar CSS/imágenes y dejar evidencia en Git.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85632" y="1325880"/>
            <a:ext cx="1783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B2E"/>
                </a:solidFill>
              </a:rPr>
              <a:t>HTML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42832" y="2130552"/>
            <a:ext cx="1783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B2E"/>
                </a:solidFill>
              </a:rPr>
              <a:t>+ CSS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00032" y="2935224"/>
            <a:ext cx="1783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B2E"/>
                </a:solidFill>
              </a:rPr>
              <a:t>+ JS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46920" y="3657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8C28"/>
                </a:solidFill>
              </a:rPr>
              <a:t>⇣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49640" y="4160520"/>
            <a:ext cx="2697480" cy="658368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React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de aprendizaje de la sesión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Al finalizar, cada aprendiz debe poder explicar y construir una interfaz React básica con componentes reutilizables.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 qué es React, para qué sirve Vite y por qué JSX no es HTML puro.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4370832" y="150876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un proyecto con Vite, ejecuta el servidor, construye componentes, pasa props y renderiza listas.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065008" y="150876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con orden: evidencia avances, pregunta con precisión y deja commits comprensibles.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914400" y="3767328"/>
            <a:ext cx="10378440" cy="132588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mínimo esperado
</a:t>
            </a:r>
            <a:r>
              <a:rPr lang="en-US" sz="150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visual con mínimo 5 productos, un componente Producto, estilos migrados, imágenes organizadas y repositorio actualizado.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5440680"/>
            <a:ext cx="1143000" cy="329184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Recordar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5440680"/>
            <a:ext cx="1417320" cy="329184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Comprender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33672" y="5440680"/>
            <a:ext cx="1143000" cy="329184"/>
          </a:xfrm>
          <a:prstGeom prst="rect">
            <a:avLst/>
          </a:prstGeom>
          <a:solidFill>
            <a:srgbClr val="00843D"/>
          </a:solidFill>
          <a:ln>
            <a:solidFill>
              <a:srgbClr val="00843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Aplicar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5440680"/>
            <a:ext cx="1143000" cy="32918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Analizar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5440680"/>
            <a:ext cx="960120" cy="32918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65008" y="5440680"/>
            <a:ext cx="1097280" cy="32918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React?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React es una biblioteca de JavaScript para construir interfaces de usuario a partir de componentes.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5B2E"/>
                </a:solidFill>
              </a:rPr>
              <a:t>React permite pensar una pantalla como un conjunto de piezas pequeñas.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429000" cy="182880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página grande con HTML, CSS y JavaScript mezclados. Cuando crece, se vuelve difícil de mantener.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4407408" y="1965960"/>
            <a:ext cx="3429000" cy="182880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React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se divide en componentes: Header, Producto, ListaProductos, Footer. Cada pieza tiene una responsabilidad.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028432" y="1965960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importa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repite una tarjeta 10 veces, no se copia y pega 10 veces: se crea un componente y se le pasan datos.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2011680" y="4480560"/>
            <a:ext cx="8183880" cy="86868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&lt;Producto nombre="Labial" precio={18000} /&gt;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&lt;Producto nombre="Crema" precio={26000} /&gt;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&lt;Producto nombre="Perfume" precio={42000} /&gt;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559612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6C16"/>
                </a:solidFill>
              </a:rPr>
              <a:t>Traducción humana: React reduce el “copia y pega” y aumenta el orden.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que React ayuda a resolver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Cuando una interfaz crece, repetir HTML se vuelve caro: más errores, más archivos y más mantenimiento.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560064" cy="64922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Situación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328160" y="1417320"/>
            <a:ext cx="3560064" cy="64922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Sin React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924800" y="1417320"/>
            <a:ext cx="3560064" cy="64922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Con React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560064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5 productos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328160" y="2103120"/>
            <a:ext cx="3560064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Se copian 5 tarjetas completas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24800" y="2103120"/>
            <a:ext cx="3560064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Un componente Producto se repite con datos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560064" cy="64922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Cambio de diseño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328160" y="2788920"/>
            <a:ext cx="3560064" cy="64922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Se edita tarjeta por tarjeta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924800" y="2788920"/>
            <a:ext cx="3560064" cy="64922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Se edita un componente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560064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Equipo de trabajo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328160" y="3474720"/>
            <a:ext cx="3560064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Todos pisan el mismo HTML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924800" y="3474720"/>
            <a:ext cx="3560064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Cada equipo trabaja una pieza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3560064" cy="64922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Errores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328160" y="4160520"/>
            <a:ext cx="3560064" cy="64922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Difíciles de ubicar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924800" y="4160520"/>
            <a:ext cx="3560064" cy="64922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Más fáciles de aislar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1097280" y="5257800"/>
            <a:ext cx="9966960" cy="64008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para explicar en clase
</a:t>
            </a:r>
            <a:r>
              <a:rPr lang="en-US" sz="150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no hace magia. Organiza mejor lo que ya conocen: HTML, CSS y JavaScript. La magia negra déjenla para cuando npm falle.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Herramientas: quién hace qué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Para no instalar a ciegas: Node, npm, Vite y React tienen roles distintos.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ejecutar herramientas de JavaScript en el computador. Sin Node, npm no funciona.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3611880" y="14173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Administrador de paquetes. Descarga dependencias y ejecuta comandos como npm run dev.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473952" y="14173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el proyecto, levanta servidor local y prepara la aplicación para producción.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9336024" y="1417320"/>
            <a:ext cx="2057400" cy="182880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biblioteca con la que construimos componentes de interfaz.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10241280" cy="146304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        # versión de Node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-v         # versión de npm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mi-catalogo -- --template react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mi-catalogo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B2E"/>
                </a:solidFill>
              </a:rPr>
              <a:t>Orden correcto: instalar Node → verificar versiones → crear proyecto Vite → instalar dependencias → ejecutar.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Instalación: checklist antes de iniciar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" y="1417320"/>
            <a:ext cx="54864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CO" sz="1500" noProof="0">
                <a:solidFill>
                  <a:srgbClr val="17251A"/>
                </a:solidFill>
              </a:rPr>
              <a:t>• Descargar Node.js desde la página oficial. </a:t>
            </a:r>
            <a:r>
              <a:rPr lang="es-CO" sz="1500" noProof="0" dirty="0">
                <a:solidFill>
                  <a:srgbClr val="17251A"/>
                </a:solidFill>
              </a:rPr>
              <a:t>Usar versión LTS compatible con Vite.
• Cerrar y abrir de nuevo Visual Studio Code después de instalar </a:t>
            </a:r>
            <a:r>
              <a:rPr lang="es-CO" sz="1500" noProof="0" dirty="0" err="1">
                <a:solidFill>
                  <a:srgbClr val="17251A"/>
                </a:solidFill>
              </a:rPr>
              <a:t>Node</a:t>
            </a:r>
            <a:r>
              <a:rPr lang="es-CO" sz="1500" noProof="0" dirty="0">
                <a:solidFill>
                  <a:srgbClr val="17251A"/>
                </a:solidFill>
              </a:rPr>
              <a:t>.
• Abrir una terminal nueva, no reutilizar una terminal vieja.
• Verificar </a:t>
            </a:r>
            <a:r>
              <a:rPr lang="es-CO" sz="1500" noProof="0" dirty="0" err="1">
                <a:solidFill>
                  <a:srgbClr val="17251A"/>
                </a:solidFill>
              </a:rPr>
              <a:t>node</a:t>
            </a:r>
            <a:r>
              <a:rPr lang="es-CO" sz="1500" noProof="0" dirty="0">
                <a:solidFill>
                  <a:srgbClr val="17251A"/>
                </a:solidFill>
              </a:rPr>
              <a:t> -v y </a:t>
            </a:r>
            <a:r>
              <a:rPr lang="es-CO" sz="1500" noProof="0" dirty="0" err="1">
                <a:solidFill>
                  <a:srgbClr val="17251A"/>
                </a:solidFill>
              </a:rPr>
              <a:t>npm</a:t>
            </a:r>
            <a:r>
              <a:rPr lang="es-CO" sz="1500" noProof="0" dirty="0">
                <a:solidFill>
                  <a:srgbClr val="17251A"/>
                </a:solidFill>
              </a:rPr>
              <a:t> -v. Si no responde, revisar PATH o reiniciar.
• Crear una carpeta de trabajo sin tildes ni espacios
• Abrir esa carpeta desde VS Code antes de ejecutar comandos.</a:t>
            </a:r>
            <a:endParaRPr lang="es-CO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6720840" y="1600200"/>
            <a:ext cx="4389120" cy="141732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s-CO" sz="1420" b="1" noProof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
</a:t>
            </a:r>
            <a:r>
              <a:rPr lang="es-CO" sz="1420" noProof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crear el proyecto, todos deben revisar em pantalla dos versiones: </a:t>
            </a:r>
            <a:r>
              <a:rPr lang="es-CO" sz="1420" noProof="0" dirty="0" err="1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r>
              <a:rPr lang="es-CO" sz="1420" noProof="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-v y </a:t>
            </a:r>
            <a:r>
              <a:rPr lang="es-CO" sz="1420" noProof="0" dirty="0" err="1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</a:t>
            </a:r>
            <a:r>
              <a:rPr lang="es-CO" sz="1420" noProof="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–v y tomar evidencia.</a:t>
            </a:r>
            <a:endParaRPr lang="es-CO" sz="1420" noProof="0" dirty="0"/>
          </a:p>
        </p:txBody>
      </p:sp>
      <p:sp>
        <p:nvSpPr>
          <p:cNvPr id="6" name="Text 4"/>
          <p:cNvSpPr/>
          <p:nvPr/>
        </p:nvSpPr>
        <p:spPr>
          <a:xfrm>
            <a:off x="6720840" y="3429000"/>
            <a:ext cx="4389120" cy="749808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20840" y="4480560"/>
            <a:ext cx="4389120" cy="86868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mínima práctica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 exige una versión moderna de Node. Si aparece advertencia de versión, se actualiza Node y se reinicia VS Code.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el proyecto con Vite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Los comandos se escriben exactamente en este orden. Copiar mal un guion también es una forma elegante de sufrir.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5806440" cy="306324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sena-react-ficha3409609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sena-react-ficha3409609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catalogo-react -- --template react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catalogo-react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95160" y="1417320"/>
            <a:ext cx="4160520" cy="96012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 pasar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ejecutar npm run dev debe aparecer una URL local, normalmente http://localhost:5173. Se abre en el navegador.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995160" y="2743200"/>
            <a:ext cx="4160520" cy="1115568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NO hacer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crear el proyecto dentro de Descargas con nombres raros. No cerrar la terminal mientras el servidor está corriendo. No borrar package.json.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995160" y="4251960"/>
            <a:ext cx="4160520" cy="571967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pide elegir opciones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Framework: React. Variante: JavaScript. 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inicial del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715000" cy="416052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catalogo-react/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node_modules/       # dependencias, NO editar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public/             # archivos públicos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assets/          # imágenes internas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App.jsx          # componente principal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App.css          # estilos del componente App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main.jsx         # entrada de React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index.css        # estilos globales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package.json        # scripts y dependencias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vite.config.js      # configuración de Vite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03720" y="1508760"/>
            <a:ext cx="4480560" cy="123444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mantenimiento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mayor parte del trabajo de hoy ocurre en src/App.jsx, src/App.css y src/assets. Lo demás se mira, pero no se manosea.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903720" y="3108960"/>
            <a:ext cx="4480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main.jsx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React con el div root del index.html. Es la puerta de entrada, no el lugar para hacer tarjetas de productos.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903720" y="4407408"/>
            <a:ext cx="4480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App.jsx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Será nuestra pantalla principal. Desde allí llamaremos componentes y enviaremos datos.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Ejecutar, detener y volver a ejecutar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El servidor local no es un archivo: es un proceso vivo en la terminal.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560064" cy="56540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Necesidad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328160" y="1325880"/>
            <a:ext cx="3560064" cy="56540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Comando / acción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924800" y="1325880"/>
            <a:ext cx="3560064" cy="56540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Resultado esperado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31520" y="192786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Ejecutar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328160" y="192786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npm run dev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24800" y="192786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Aparece URL local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31520" y="2529840"/>
            <a:ext cx="3560064" cy="56540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Abrir app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328160" y="2529840"/>
            <a:ext cx="3560064" cy="56540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Ctrl + clic en la URL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924800" y="2529840"/>
            <a:ext cx="3560064" cy="56540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Se ve la página en navegador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31520" y="313182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Detener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328160" y="313182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Ctrl + C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924800" y="313182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El servidor se apaga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31520" y="3733800"/>
            <a:ext cx="3560064" cy="56540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Instalar de nuevo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328160" y="3733800"/>
            <a:ext cx="3560064" cy="56540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npm install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924800" y="3733800"/>
            <a:ext cx="3560064" cy="56540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Recrea node_modules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731520" y="433578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Construir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328160" y="433578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npm run build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7924800" y="4335780"/>
            <a:ext cx="3560064" cy="56540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Crea carpeta dist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4846320" cy="658368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Síntoma común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 me carga” puede significar tres cosas: no está corriendo el servidor, está en otra carpeta o el navegador tiene otra URL.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172200" y="5257800"/>
            <a:ext cx="5074920" cy="658368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 fontScale="925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correcta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pregunten “no sirve”. Pregunten: “estoy en esta carpeta, ejecuté este comando y salió este error”. Eso ya es lenguaje profesional.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JSX: HTML con reglas de JavaScript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JSX se parece a HTML, pero React lo interpreta dentro de JavaScript. Por eso tiene reglas propias.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141732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1: un solo padre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componente debe retornar un único contenedor. Puede ser &lt;div&gt;...&lt;/div&gt; o &lt;&gt;...&lt;/&gt;.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4370832" y="141732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2: className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React no usamos class, usamos className porque class es palabra reservada de JavaScript.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982712" y="141732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3: llaves {}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insertar valores o expresiones de JavaScript dentro del JSX se usan llaves.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10332720" cy="2176272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nombre = "Catálogo Sena";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 className="contenedor"&gt;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&lt;h1&gt;{nombre}&lt;/h1&gt;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&lt;p&gt;Productos destacados&lt;/p&gt;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JSX: errores típicos y corrección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605784" cy="58064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Error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328160" y="1325880"/>
            <a:ext cx="3605784" cy="58064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Código problemático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970520" y="1325880"/>
            <a:ext cx="3605784" cy="58064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Corrección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85800" y="194310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Dos elementos sueltos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328160" y="194310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&lt;h1/&gt; &lt;p/&gt;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70520" y="194310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&lt;&gt; &lt;h1/&gt; &lt;p/&gt; &lt;/&gt;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3605784" cy="58064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Usar class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328160" y="2560320"/>
            <a:ext cx="3605784" cy="58064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&lt;div class="card"&gt;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970520" y="2560320"/>
            <a:ext cx="3605784" cy="58064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&lt;div className="card"&gt;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85800" y="317754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Etiqueta sin cerrar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328160" y="317754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&lt;img src="x.png"&gt;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970520" y="317754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&lt;img src="x.png" /&gt;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3605784" cy="58064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Estilo como texto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328160" y="3794760"/>
            <a:ext cx="3605784" cy="58064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style="color:red"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970520" y="3794760"/>
            <a:ext cx="3605784" cy="58064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style={{ color: "red" }}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85800" y="441198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Comentario HTML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328160" y="441198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&lt;!-- texto --&gt;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7970520" y="4411980"/>
            <a:ext cx="3605784" cy="58064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{/* texto */}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1005840" y="5394960"/>
            <a:ext cx="10149840" cy="530352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Rutina de depuración
</a:t>
            </a:r>
            <a:r>
              <a:rPr lang="en-US" sz="145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error completo. Ubicar archivo y línea. Revisar cierre de etiquetas. Guardar archivo. Mirar navegador. Repetir.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Componentes: la unidad básica de React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Un componente es una función que devuelve JSX.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303520" cy="402336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Producto()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className="producto"&gt;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&lt;h2&gt;Labial mate&lt;/h2&gt;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&lt;p&gt;Precio: $18.000&lt;/p&gt;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&lt;button&gt;Ver detalle&lt;/button&gt;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Producto;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37960" y="1417320"/>
            <a:ext cx="4343400" cy="160020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observar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Producto empieza con mayúscula.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Retorna JSX.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Puede vivir en su propio archivo.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Luego se importa y se usa como etiqueta.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537960" y="3493008"/>
            <a:ext cx="4343400" cy="109728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Producto from "./components/Producto";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&lt;Producto /&gt;;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componente: Producto.jsx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El objetivo no es hacer una tarjeta bonita; es separar responsabilidades.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1261872"/>
            <a:ext cx="5577840" cy="434340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Producto()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className="producto"&gt;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src="/producto-demo.png" alt="Producto" /&gt;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&lt;h2&gt;Labial mate&lt;/h2&gt;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&lt;p&gt;Producto para catálogo de belleza.&lt;/p&gt;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&lt;strong&gt;$18.000&lt;/strong&gt;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12280" y="1417320"/>
            <a:ext cx="438912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51A"/>
                </a:solidFill>
              </a:rPr>
              <a:t>• Crear carpeta src/components.
• Crear archivo Producto.jsx.
• Pegar el componente.
• Importarlo en App.jsx.
• Probar que aparece en pantalla.
• Hacer commit: crear componente Producto.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12280" y="4160520"/>
            <a:ext cx="4389120" cy="77724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del navegador + captura del árbol de archivos mostrando components/Producto.jsx.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812280" y="5166360"/>
            <a:ext cx="4389120" cy="658368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sale pantalla en blanco, revisar consola. Si dice “Producto is not defined”, falta importación.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Composición: componentes dentro de componentes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React permite armar pantallas combinando piezas pequeñas.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1243584"/>
            <a:ext cx="5760720" cy="438912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Producto from "./components/Producto";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 className="app"&gt;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&lt;h1&gt;Wonder Beauty Shop&lt;/h1&gt;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&lt;section className="catalogo"&gt;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&lt;Producto /&gt;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&lt;Producto /&gt;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&lt;Producto /&gt;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&lt;/section&gt;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App;</a:t>
            </a:r>
            <a:endParaRPr lang="en-US" sz="1360" dirty="0"/>
          </a:p>
        </p:txBody>
      </p:sp>
      <p:sp>
        <p:nvSpPr>
          <p:cNvPr id="5" name="Text 3"/>
          <p:cNvSpPr/>
          <p:nvPr/>
        </p:nvSpPr>
        <p:spPr>
          <a:xfrm>
            <a:off x="6812280" y="1508760"/>
            <a:ext cx="4297680" cy="96012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gana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App.jsx queda como un organizador. La lógica visual de cada producto queda en Producto.jsx.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812280" y="2907792"/>
            <a:ext cx="4297680" cy="96012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problema queda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tarjetas aparecen iguales. Para resolverlo necesitamos props: datos que viajan del padre al hijo.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812280" y="4315968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control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¿App.jsx debería conocer el HTML interno de cada tarjeta? No. App debe coordinar; Producto debe representar.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Props: datos que recibe un componente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Las props permiten que un mismo componente muestre información diferente.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261872"/>
            <a:ext cx="5257800" cy="329184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Producto(props)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className="producto"&gt;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&lt;h2&gt;{props.nombre}&lt;/h2&gt;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&lt;p&gt;{props.descripcion}&lt;/p&gt;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&lt;strong&gt;${props.precio}&lt;/strong&gt;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0" y="1261872"/>
            <a:ext cx="4983480" cy="160020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&lt;Producto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nombre="Labial mate"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descripcion="Color rojo de larga duración"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precio={18000}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3337560"/>
            <a:ext cx="4983480" cy="841248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correcta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padre envía datos. El hijo los recibe y los pinta. El hijo no inventa la información.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400800" y="4617720"/>
            <a:ext cx="4983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práctica inicial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ya entiendan props, pueden usar destructuring: function Producto({ nombre, precio }). 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con destructuring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La misma idea, menos escritura. Es útil cuando el componente crece.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5715000" cy="324612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Producto({ nombre, descripcion, precio })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className="producto"&gt;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&lt;h2&gt;{nombre}&lt;/h2&gt;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&lt;p&gt;{descripcion}&lt;/p&gt;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&lt;strong&gt;${precio}&lt;/strong&gt;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03720" y="1508760"/>
            <a:ext cx="4343400" cy="109728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variables mágicas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descripcion y precio salen de las props que envía App.jsx. Si el padre no manda precio, el hijo no lo puede mostrar.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903720" y="3063240"/>
            <a:ext cx="4343400" cy="82296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 rápido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una prop categoria y mostrarla arriba del nombre del producto.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903720" y="4343400"/>
            <a:ext cx="4343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tarjeta debe mostrar nombre, descripción, precio y categoría diferentes.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Arreglos: los datos viven en una lista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Cuando hay varios productos, no conviene escribir un componente por cada producto.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669280" cy="2907792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productos = [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nombre: "Labial mate", precio: 18000 },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2, nombre: "Crema facial", precio: 26000 },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3, nombre: "Perfume", precio: 42000 },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4, nombre: "Set de brochas", precio: 35000 },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5, nombre: "Sombra", precio: 22000 }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6903720" y="1508760"/>
            <a:ext cx="425196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representa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objeto es un producto. El arreglo completo es el catálogo.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903720" y="267004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usar id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necesita una key estable para saber cuál elemento es cuál cuando la lista cambia.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903720" y="4023360"/>
            <a:ext cx="4251960" cy="86868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Extensión del reto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imagen, descripción y categoría a cada objeto.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B2E"/>
                </a:solidFill>
              </a:rPr>
              <a:t>Pensamiento de programador: primero ordeno los datos; después los pinto.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map(): convertir datos en componentes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map() recorre el arreglo y devuelve un componente Producto por cada objeto.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486400" cy="324612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className="catalogo"&gt;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{productos.map((producto) =&gt; (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&lt;Producto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key={producto.id}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nombre={producto.nombre}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precio={producto.precio}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))}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6720840" y="1417320"/>
            <a:ext cx="4480560" cy="82296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map() responde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cada producto del arreglo, ¿qué componente debo mostrar?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720840" y="2606040"/>
            <a:ext cx="4480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responde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identifica React cada elemento de la lista?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720840" y="3794760"/>
            <a:ext cx="4480560" cy="96012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común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usar key, usar key repetida o usar key={index} cuando ya existe un id. El index es plan B, no plan de vida.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6720840" y="5166360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agrego un sexto producto al arreglo, debe aparecer automáticamente en pantalla.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key: pequeña propiedad, gran consecuencia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La key no se ve en pantalla, pero ayuda a React a mantener ordenada la lista.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3560064" cy="585216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Caso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309872" y="1325880"/>
            <a:ext cx="3560064" cy="585216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Mala key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906512" y="1325880"/>
            <a:ext cx="3560064" cy="585216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Buena key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13232" y="1947672"/>
            <a:ext cx="3560064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Producto con id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309872" y="1947672"/>
            <a:ext cx="3560064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key={index}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06512" y="1947672"/>
            <a:ext cx="3560064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key={producto.id}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13232" y="2569464"/>
            <a:ext cx="3560064" cy="585216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Usuarios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309872" y="2569464"/>
            <a:ext cx="3560064" cy="585216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key={nombre}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906512" y="2569464"/>
            <a:ext cx="3560064" cy="585216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key={usuario.documento}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13232" y="3191256"/>
            <a:ext cx="3560064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Tareas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309872" y="3191256"/>
            <a:ext cx="3560064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key={texto}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906512" y="3191256"/>
            <a:ext cx="3560064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key={tarea.id}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13232" y="3813048"/>
            <a:ext cx="3560064" cy="585216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Elementos estáticos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309872" y="3813048"/>
            <a:ext cx="3560064" cy="585216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sin key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906512" y="3813048"/>
            <a:ext cx="3560064" cy="585216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key única si se usa map()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5074920" cy="804672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sencilla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compara la lista anterior con la nueva. La key le dice: “este elemento sigue siendo el mismo”.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6263640" y="4892040"/>
            <a:ext cx="4754880" cy="804672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clase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usa map(), se usa key. No se negocia. Aquí no estamos en feria de descuentos.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Migrar CSS: del proyecto anterior a React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No se copia todo a ciegas. Se organiza por propósito.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371600"/>
            <a:ext cx="3560064" cy="544982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Antes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309872" y="1371600"/>
            <a:ext cx="3560064" cy="544982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En React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906512" y="1371600"/>
            <a:ext cx="3560064" cy="544982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Cuidado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13232" y="1953158"/>
            <a:ext cx="3560064" cy="544982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style.css general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309872" y="1953158"/>
            <a:ext cx="3560064" cy="544982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src/index.css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06512" y="1953158"/>
            <a:ext cx="3560064" cy="544982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Estilos base: body, fuentes, variables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13232" y="2534717"/>
            <a:ext cx="3560064" cy="544982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estilos de tarjetas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309872" y="2534717"/>
            <a:ext cx="3560064" cy="544982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src/App.css o Producto.css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906512" y="2534717"/>
            <a:ext cx="3560064" cy="544982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Clases usadas por componentes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13232" y="3116275"/>
            <a:ext cx="3560064" cy="544982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Bootstrap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309872" y="3116275"/>
            <a:ext cx="3560064" cy="544982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puede seguir usándose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906512" y="3116275"/>
            <a:ext cx="3560064" cy="544982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No mezclar sin entender prioridades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13232" y="3697834"/>
            <a:ext cx="3560064" cy="544982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class="..."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309872" y="3697834"/>
            <a:ext cx="3560064" cy="544982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className="..."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906512" y="3697834"/>
            <a:ext cx="3560064" cy="544982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Cambio obligatorio en JSX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5349240" cy="123444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.catalogo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repeat(auto-fit, minmax(220px, 1fr));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.producto 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16px;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20840" y="4645152"/>
            <a:ext cx="4434840" cy="658368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control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estilo no aplica, revisar primero el nombre de la clase y luego si el archivo CSS está importado.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Migrar imágenes: dos caminos válidos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La imagen puede vivir en public o en src/assets. Lo importante es ser consistente.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560064" cy="59207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Ubicación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282440" y="1325880"/>
            <a:ext cx="3560064" cy="59207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Cómo se usa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879080" y="1325880"/>
            <a:ext cx="3560064" cy="592074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Cuándo conviene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85800" y="1954530"/>
            <a:ext cx="3560064" cy="592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public/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282440" y="1954530"/>
            <a:ext cx="3560064" cy="592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&lt;img src="/logo.png" /&gt;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879080" y="1954530"/>
            <a:ext cx="3560064" cy="592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Archivos públicos simples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85800" y="2583180"/>
            <a:ext cx="3560064" cy="59207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src/assets/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282440" y="2583180"/>
            <a:ext cx="3560064" cy="59207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import foto from "./assets/foto.png"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879080" y="2583180"/>
            <a:ext cx="3560064" cy="592074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Imágenes del proyecto empaquetadas por Vite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85800" y="3211830"/>
            <a:ext cx="3560064" cy="592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URL externa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282440" y="3211830"/>
            <a:ext cx="3560064" cy="592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&lt;img src="https://..." /&gt;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879080" y="3211830"/>
            <a:ext cx="3560064" cy="592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Prueba rápida, no ideal para entregas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868680" y="4251960"/>
            <a:ext cx="5166360" cy="1207008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labial from "../assets/labial.png";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Producto({ nombre })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&lt;img src={labial} alt={nombre} /&gt;;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251960"/>
            <a:ext cx="4572000" cy="96012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para entregar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Nombres sin espacios ni tildes. Usar alt descriptivo. Comprimir imágenes muy pesadas. No dejar rutas rotas.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537960" y="5532120"/>
            <a:ext cx="4572000" cy="530352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común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una imagen rompe la ruta. Si se mueve, se actualiza el import.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Commits: evidencia profesional del avance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Git no se deja para el final. Un commit al final de todo es una caja negra con moño.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5760720" cy="301752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"crear proyecto React con Vite"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"agregar componente Producto"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"renderizar catalogo con map"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hacer commit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Proyecto creado.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Componente funcionando.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Props aplicadas.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Lista con map.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CSS e imágenes organizadas.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Publicación o evidencia final.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903720" y="3703320"/>
            <a:ext cx="4343400" cy="100584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útil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decir qué cambió. “avance”, “cosas” o “final final ahora sí” no ayudan ni al instructor ni al yo del futuro.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903720" y="5102352"/>
            <a:ext cx="4343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 GitHub con historial de commits y README breve.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Publicación: opción simple para cierre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Para esta clase basta publicar o dejar el build listo, según conectividad.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3383280" cy="150876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Opción A: Vercel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a GitHub. Entrar a Vercel. New Project. Importar repositorio. Framework: Vite. Deploy.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4389120" y="141732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Opción B: GitHub Pages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configuración adicional. Útil si ya manejan GitHub y la red permite trabajar con calma.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001000" y="1417320"/>
            <a:ext cx="3383280" cy="150876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Opción C: build local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npm run build y entregar captura de carpeta dist generada. Sirve si internet está rebelde.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5029200" cy="1188720"/>
          </a:xfrm>
          <a:prstGeom prst="rect">
            <a:avLst/>
          </a:prstGeom>
          <a:solidFill>
            <a:srgbClr val="17251A"/>
          </a:solidFill>
          <a:ln>
            <a:solidFill>
              <a:srgbClr val="1725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todo está correcto: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built in ...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 crea carpeta dist/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3749040"/>
            <a:ext cx="4754880" cy="118872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cierre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debe verse en navegador, local o publicada. El repositorio debe tener el código actualizado.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principal: catálogo de productos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5C"/>
                </a:solidFill>
              </a:rPr>
              <a:t>Contexto: un emprendimiento local necesita migrar una página HTML a una interfaz React organizada.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534924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7251A"/>
                </a:solidFill>
              </a:rPr>
              <a:t>• Crear proyecto con Vite y React.
• Crear componente Producto.jsx.
• Definir arreglo con mínimo 5 productos.
• Renderizar la lista con map() y key.
• Usar props para nombre, descripción, precio, categoría e imagen.
• Migrar estilos CSS y organizar imágenes.
• Hacer mínimo 4 commits con mensajes claros.
• Entregar URL del repositorio y, si se puede, URL publicada.</a:t>
            </a:r>
            <a:endParaRPr lang="en-US" sz="1470" dirty="0"/>
          </a:p>
        </p:txBody>
      </p:sp>
      <p:sp>
        <p:nvSpPr>
          <p:cNvPr id="5" name="Text 3"/>
          <p:cNvSpPr/>
          <p:nvPr/>
        </p:nvSpPr>
        <p:spPr>
          <a:xfrm>
            <a:off x="6629400" y="1760687"/>
            <a:ext cx="4434840" cy="1097280"/>
          </a:xfrm>
          <a:prstGeom prst="rect">
            <a:avLst/>
          </a:prstGeom>
          <a:solidFill>
            <a:srgbClr val="E6F4EA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05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esperado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pantalla tipo catálogo para una tienda, emprendimiento o servicio local. Debe verse ordenada, no necesariamente perfecta.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6629400" y="3474254"/>
            <a:ext cx="4434840" cy="1051560"/>
          </a:xfrm>
          <a:prstGeom prst="rect">
            <a:avLst/>
          </a:prstGeom>
          <a:solidFill>
            <a:srgbClr val="FFF0DE"/>
          </a:solidFill>
          <a:ln w="12700">
            <a:solidFill>
              <a:srgbClr val="D7E4D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C86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
</a:t>
            </a:r>
            <a:r>
              <a:rPr lang="en-US" sz="1420" dirty="0">
                <a:solidFill>
                  <a:srgbClr val="1725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 GitHub + capturas + breve explicación de qué componente hicieron y qué datos pasaron por props.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frecuentes y solución rápida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261872"/>
            <a:ext cx="3621024" cy="596973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Mensaje / problema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4279392" y="1261872"/>
            <a:ext cx="3621024" cy="596973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Causa probable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936992" y="1261872"/>
            <a:ext cx="3621024" cy="596973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Acción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21792" y="1895421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npm no se reconoce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279392" y="1895421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Node no quedó en PATH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36992" y="1895421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Reabrir VS Code / reinstalar Node / reiniciar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21792" y="2528969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Missing script dev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279392" y="2528969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Terminal en carpeta equivocada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936992" y="2528969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Entrar a la carpeta del proyecto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21792" y="3162518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Module not found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279392" y="3162518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Import mal escrito o archivo movido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936992" y="3162518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Revisar nombre, ruta y mayúsculas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621792" y="3796066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Pantalla blanca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279392" y="3796066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Error de JSX o import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936992" y="3796066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Abrir consola y leer línea del error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21792" y="4429615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Imagen no aparece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279392" y="4429615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Ruta rota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7936992" y="4429615"/>
            <a:ext cx="3621024" cy="596973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Verificar public o assets/import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621792" y="5063163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Estilo no aplica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4279392" y="5063163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class en vez de className o CSS no importado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7936992" y="5063163"/>
            <a:ext cx="3621024" cy="596973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Corregir className e import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1005840" y="5870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86C16"/>
                </a:solidFill>
              </a:rPr>
              <a:t>Primero leer el error. Después pedir ayuda. En ese orden se forman programadores.</a:t>
            </a:r>
            <a:endParaRPr lang="en-US" sz="16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Guion breve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5358384" cy="472059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Bloque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6080760" y="1280160"/>
            <a:ext cx="5358384" cy="472059"/>
          </a:xfrm>
          <a:prstGeom prst="rect">
            <a:avLst/>
          </a:prstGeom>
          <a:solidFill>
            <a:srgbClr val="00843D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</a:rPr>
              <a:t>Frase guía para el instructor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685800" y="178879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React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80760" y="178879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“Vamos a dejar de repetir HTML y empezar a crear piezas reutilizables.”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85800" y="2297430"/>
            <a:ext cx="5358384" cy="472059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Vite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80760" y="2297430"/>
            <a:ext cx="5358384" cy="472059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“Vite nos da el taller armado: servidor, estructura y build.”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85800" y="280606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JSX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080760" y="280606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“Se parece a HTML, pero obedece reglas de JavaScript.”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685800" y="3314700"/>
            <a:ext cx="5358384" cy="472059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Componentes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80760" y="3314700"/>
            <a:ext cx="5358384" cy="472059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“Cada función representa una parte de la pantalla.”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85800" y="382333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Props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080760" y="382333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“El padre manda datos; el hijo los muestra.”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685800" y="4331970"/>
            <a:ext cx="5358384" cy="472059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map/key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080760" y="4331970"/>
            <a:ext cx="5358384" cy="472059"/>
          </a:xfrm>
          <a:prstGeom prst="rect">
            <a:avLst/>
          </a:prstGeom>
          <a:solidFill>
            <a:srgbClr val="F2F7F2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“Una lista de datos se convierte en una lista de componentes.”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85800" y="484060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Git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080760" y="4840605"/>
            <a:ext cx="5358384" cy="472059"/>
          </a:xfrm>
          <a:prstGeom prst="rect">
            <a:avLst/>
          </a:prstGeom>
          <a:solidFill>
            <a:srgbClr val="FFFFFF"/>
          </a:solidFill>
          <a:ln w="8890">
            <a:solidFill>
              <a:srgbClr val="D7E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251A"/>
                </a:solidFill>
              </a:rPr>
              <a:t>“Cada avance importante deja huella.”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6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4106</Words>
  <Application>Microsoft Office PowerPoint</Application>
  <PresentationFormat>Panorámica</PresentationFormat>
  <Paragraphs>490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SENA CBA Mosquera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desde cero - Segunda clase</dc:title>
  <dc:subject>Segunda clase React - Ficha 3409609</dc:subject>
  <dc:creator>OpenAI</dc:creator>
  <cp:lastModifiedBy>SENA</cp:lastModifiedBy>
  <cp:revision>2</cp:revision>
  <dcterms:created xsi:type="dcterms:W3CDTF">2026-08-18T06:17:44Z</dcterms:created>
  <dcterms:modified xsi:type="dcterms:W3CDTF">2026-08-18T13:26:50Z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6245d8-e5f4-42ac-a19d-923c969a5d0b_Enabled">
    <vt:lpwstr>true</vt:lpwstr>
  </property>
  <property fmtid="{D5CDD505-2E9C-101B-9397-08002B2CF9AE}" pid="3" name="MSIP_Label_516245d8-e5f4-42ac-a19d-923c969a5d0b_SetDate">
    <vt:lpwstr>2026-08-18T06:19:24Z</vt:lpwstr>
  </property>
  <property fmtid="{D5CDD505-2E9C-101B-9397-08002B2CF9AE}" pid="4" name="MSIP_Label_516245d8-e5f4-42ac-a19d-923c969a5d0b_Method">
    <vt:lpwstr>Privileged</vt:lpwstr>
  </property>
  <property fmtid="{D5CDD505-2E9C-101B-9397-08002B2CF9AE}" pid="5" name="MSIP_Label_516245d8-e5f4-42ac-a19d-923c969a5d0b_Name">
    <vt:lpwstr>Confidential</vt:lpwstr>
  </property>
  <property fmtid="{D5CDD505-2E9C-101B-9397-08002B2CF9AE}" pid="6" name="MSIP_Label_516245d8-e5f4-42ac-a19d-923c969a5d0b_SiteId">
    <vt:lpwstr>cbc2c381-2f2e-4d93-91d1-506c9316ace7</vt:lpwstr>
  </property>
  <property fmtid="{D5CDD505-2E9C-101B-9397-08002B2CF9AE}" pid="7" name="MSIP_Label_516245d8-e5f4-42ac-a19d-923c969a5d0b_ActionId">
    <vt:lpwstr>b74acc16-8d2f-45d0-aa1b-ad5a9ddead24</vt:lpwstr>
  </property>
  <property fmtid="{D5CDD505-2E9C-101B-9397-08002B2CF9AE}" pid="8" name="MSIP_Label_516245d8-e5f4-42ac-a19d-923c969a5d0b_ContentBits">
    <vt:lpwstr>0</vt:lpwstr>
  </property>
  <property fmtid="{D5CDD505-2E9C-101B-9397-08002B2CF9AE}" pid="9" name="MSIP_Label_516245d8-e5f4-42ac-a19d-923c969a5d0b_Tag">
    <vt:lpwstr>10, 0, 1, 1</vt:lpwstr>
  </property>
</Properties>
</file>